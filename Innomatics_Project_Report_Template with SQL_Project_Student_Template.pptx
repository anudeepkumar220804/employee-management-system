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8" r:id="rId3"/>
    <p:sldId id="275" r:id="rId4"/>
    <p:sldId id="276" r:id="rId5"/>
    <p:sldId id="262" r:id="rId6"/>
    <p:sldId id="264" r:id="rId7"/>
    <p:sldId id="282" r:id="rId8"/>
    <p:sldId id="265" r:id="rId9"/>
    <p:sldId id="267" r:id="rId10"/>
    <p:sldId id="268" r:id="rId11"/>
    <p:sldId id="269" r:id="rId12"/>
    <p:sldId id="270" r:id="rId13"/>
    <p:sldId id="271" r:id="rId14"/>
    <p:sldId id="272" r:id="rId15"/>
    <p:sldId id="273" r:id="rId16"/>
    <p:sldId id="274" r:id="rId17"/>
    <p:sldId id="278" r:id="rId18"/>
    <p:sldId id="279" r:id="rId19"/>
    <p:sldId id="280" r:id="rId20"/>
    <p:sldId id="281" r:id="rId21"/>
    <p:sldId id="259" r:id="rId22"/>
  </p:sldIdLst>
  <p:sldSz cx="12192000" cy="6858000"/>
  <p:notesSz cx="6858000" cy="9144000"/>
  <p:embeddedFontLst>
    <p:embeddedFont>
      <p:font typeface="Arial Rounded MT Bold" panose="020F0704030504030204" pitchFamily="34" charset="0"/>
      <p:regular r:id="rId24"/>
    </p:embeddedFont>
    <p:embeddedFont>
      <p:font typeface="Libre Baskerville" panose="02000000000000000000" pitchFamily="2" charset="0"/>
      <p:regular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srcRect/>
          <a:stretch>
            <a:fillRect/>
          </a:stretch>
        </p:blipFill>
        <p:spPr>
          <a:xfrm>
            <a:off x="635" y="0"/>
            <a:ext cx="12190730" cy="6885305"/>
          </a:xfrm>
          <a:prstGeom prst="rect">
            <a:avLst/>
          </a:prstGeom>
          <a:noFill/>
          <a:ln>
            <a:noFill/>
          </a:ln>
        </p:spPr>
      </p:pic>
      <p:sp>
        <p:nvSpPr>
          <p:cNvPr id="99" name="Google Shape;99;p1"/>
          <p:cNvSpPr txBox="1"/>
          <p:nvPr/>
        </p:nvSpPr>
        <p:spPr>
          <a:xfrm>
            <a:off x="1814068" y="3660359"/>
            <a:ext cx="8563864"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altLang="en-US" sz="4400" b="0" i="0" u="none" strike="noStrike" cap="none" dirty="0">
                <a:solidFill>
                  <a:schemeClr val="tx1"/>
                </a:solidFill>
                <a:latin typeface="Arial" panose="020B0604020202020204" pitchFamily="34" charset="0"/>
                <a:ea typeface="Calibri" panose="020F0502020204030204"/>
                <a:cs typeface="Arial" panose="020B0604020202020204" pitchFamily="34" charset="0"/>
                <a:sym typeface="Calibri" panose="020F0502020204030204"/>
              </a:rPr>
              <a:t>Employee Management System</a:t>
            </a:r>
          </a:p>
        </p:txBody>
      </p:sp>
      <p:sp>
        <p:nvSpPr>
          <p:cNvPr id="2" name="Text Box 1"/>
          <p:cNvSpPr txBox="1"/>
          <p:nvPr/>
        </p:nvSpPr>
        <p:spPr>
          <a:xfrm>
            <a:off x="9618345" y="5016500"/>
            <a:ext cx="2331085" cy="1282065"/>
          </a:xfrm>
          <a:prstGeom prst="rect">
            <a:avLst/>
          </a:prstGeom>
          <a:noFill/>
        </p:spPr>
        <p:txBody>
          <a:bodyPr wrap="square" rtlCol="0">
            <a:noAutofit/>
          </a:bodyPr>
          <a:lstStyle/>
          <a:p>
            <a:r>
              <a:rPr lang="en-IN" altLang="en-US" sz="1600" dirty="0">
                <a:solidFill>
                  <a:srgbClr val="FF0000"/>
                </a:solidFill>
              </a:rPr>
              <a:t>Presented By:</a:t>
            </a:r>
          </a:p>
          <a:p>
            <a:r>
              <a:rPr lang="en-IN" altLang="en-US" sz="1600" b="1" dirty="0" err="1"/>
              <a:t>J.AnudeepKumar</a:t>
            </a:r>
            <a:endParaRPr lang="en-IN" altLang="en-US" sz="1600" b="1" dirty="0"/>
          </a:p>
          <a:p>
            <a:r>
              <a:rPr lang="en-IN" altLang="en-US" sz="1600" b="1" dirty="0" err="1"/>
              <a:t>B.SaiVamshi</a:t>
            </a:r>
            <a:endParaRPr lang="en-IN" altLang="en-US" sz="1600" b="1" dirty="0"/>
          </a:p>
          <a:p>
            <a:r>
              <a:rPr lang="en-IN" altLang="en-US" sz="1600" b="1" dirty="0" err="1"/>
              <a:t>S.Karthik</a:t>
            </a:r>
            <a:endParaRPr lang="en-IN" altLang="en-US" sz="1600" b="1" dirty="0"/>
          </a:p>
          <a:p>
            <a:r>
              <a:rPr lang="en-IN" altLang="en-US" sz="1600" b="1" dirty="0"/>
              <a:t>Batch No:460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panose="020F0502020204030204"/>
              <a:buNone/>
            </a:pPr>
            <a:r>
              <a:rPr lang="en-IN" b="1">
                <a:solidFill>
                  <a:srgbClr val="FF0000"/>
                </a:solidFill>
              </a:rPr>
              <a:t>Agenda  </a:t>
            </a:r>
            <a:endParaRPr b="1">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Objective of the Project</a:t>
            </a:r>
            <a:endParaRPr sz="2400" dirty="0"/>
          </a:p>
          <a:p>
            <a:pPr marL="457200" lvl="0" indent="-431800" algn="l" rtl="0">
              <a:lnSpc>
                <a:spcPct val="90000"/>
              </a:lnSpc>
              <a:spcBef>
                <a:spcPts val="1000"/>
              </a:spcBef>
              <a:spcAft>
                <a:spcPts val="0"/>
              </a:spcAft>
              <a:buSzPts val="2400"/>
              <a:buChar char="•"/>
            </a:pPr>
            <a:r>
              <a:rPr lang="en-IN" sz="2400" b="1" dirty="0"/>
              <a:t>ER Diagram and schema explanation</a:t>
            </a:r>
            <a:endParaRPr sz="2400" dirty="0"/>
          </a:p>
          <a:p>
            <a:pPr marL="457200" lvl="0" indent="-431800" algn="l" rtl="0">
              <a:lnSpc>
                <a:spcPct val="90000"/>
              </a:lnSpc>
              <a:spcBef>
                <a:spcPts val="1000"/>
              </a:spcBef>
              <a:spcAft>
                <a:spcPts val="0"/>
              </a:spcAft>
              <a:buSzPts val="2400"/>
              <a:buChar char="•"/>
            </a:pPr>
            <a:r>
              <a:rPr lang="en-IN" sz="2400" b="1" dirty="0"/>
              <a:t>Key analysis questions (use cases)</a:t>
            </a:r>
            <a:endParaRPr sz="2400" dirty="0"/>
          </a:p>
          <a:p>
            <a:pPr marL="457200" lvl="0" indent="-431800" algn="l" rtl="0">
              <a:lnSpc>
                <a:spcPct val="90000"/>
              </a:lnSpc>
              <a:spcBef>
                <a:spcPts val="1000"/>
              </a:spcBef>
              <a:spcAft>
                <a:spcPts val="0"/>
              </a:spcAft>
              <a:buSzPts val="2400"/>
              <a:buChar char="•"/>
            </a:pPr>
            <a:r>
              <a:rPr lang="en-IN" sz="2400" b="1" dirty="0"/>
              <a:t>SQL query results with screenshots or summaries</a:t>
            </a:r>
            <a:endParaRPr sz="2400" dirty="0"/>
          </a:p>
          <a:p>
            <a:pPr marL="457200" lvl="0" indent="-431800" algn="l" rtl="0">
              <a:lnSpc>
                <a:spcPct val="90000"/>
              </a:lnSpc>
              <a:spcBef>
                <a:spcPts val="1000"/>
              </a:spcBef>
              <a:spcAft>
                <a:spcPts val="0"/>
              </a:spcAft>
              <a:buSzPts val="2400"/>
              <a:buChar char="•"/>
            </a:pPr>
            <a:r>
              <a:rPr lang="en-IN" sz="2400" b="1" dirty="0"/>
              <a:t>Final business insights and recommendations</a:t>
            </a:r>
            <a:endParaRPr sz="2400" dirty="0"/>
          </a:p>
          <a:p>
            <a:pPr marL="457200" lvl="0" indent="-431800" algn="l" rtl="0">
              <a:lnSpc>
                <a:spcPct val="90000"/>
              </a:lnSpc>
              <a:spcBef>
                <a:spcPts val="1000"/>
              </a:spcBef>
              <a:spcAft>
                <a:spcPts val="0"/>
              </a:spcAft>
              <a:buSzPts val="2400"/>
              <a:buChar char="•"/>
            </a:pPr>
            <a:r>
              <a:rPr lang="en-IN" sz="2400" b="1" dirty="0"/>
              <a:t>Conclusion (Key finding overall) </a:t>
            </a:r>
            <a:endParaRPr sz="2400" dirty="0"/>
          </a:p>
          <a:p>
            <a:pPr marL="457200" lvl="0" indent="-431800" algn="l" rtl="0">
              <a:lnSpc>
                <a:spcPct val="90000"/>
              </a:lnSpc>
              <a:spcBef>
                <a:spcPts val="1000"/>
              </a:spcBef>
              <a:spcAft>
                <a:spcPts val="0"/>
              </a:spcAft>
              <a:buSzPts val="2400"/>
              <a:buChar char="•"/>
            </a:pPr>
            <a:r>
              <a:rPr lang="en-IN" sz="2400" b="1" dirty="0"/>
              <a:t>Q&amp;A Slide </a:t>
            </a:r>
            <a:endParaRPr sz="2400" dirty="0"/>
          </a:p>
          <a:p>
            <a:pPr marL="0" lvl="0" indent="0" algn="l" rtl="0">
              <a:lnSpc>
                <a:spcPct val="90000"/>
              </a:lnSpc>
              <a:spcBef>
                <a:spcPts val="1000"/>
              </a:spcBef>
              <a:spcAft>
                <a:spcPts val="0"/>
              </a:spcAft>
              <a:buClr>
                <a:schemeClr val="dk1"/>
              </a:buClr>
              <a:buSzPts val="2800"/>
              <a:buNone/>
            </a:pPr>
            <a:endParaRPr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54F79-CA00-1ED3-E5D3-49AC62088A0E}"/>
              </a:ext>
            </a:extLst>
          </p:cNvPr>
          <p:cNvSpPr>
            <a:spLocks noGrp="1"/>
          </p:cNvSpPr>
          <p:nvPr>
            <p:ph type="title"/>
          </p:nvPr>
        </p:nvSpPr>
        <p:spPr/>
        <p:txBody>
          <a:bodyPr/>
          <a:lstStyle/>
          <a:p>
            <a:r>
              <a:rPr lang="en-US" b="1" dirty="0">
                <a:solidFill>
                  <a:srgbClr val="FF0000"/>
                </a:solidFill>
              </a:rPr>
              <a:t>	Business Problem and Statement</a:t>
            </a:r>
            <a:br>
              <a:rPr lang="en-US" b="1" dirty="0">
                <a:solidFill>
                  <a:srgbClr val="FF0000"/>
                </a:solidFill>
              </a:rPr>
            </a:br>
            <a:endParaRPr lang="en-IN" dirty="0">
              <a:solidFill>
                <a:srgbClr val="FF0000"/>
              </a:solidFill>
            </a:endParaRPr>
          </a:p>
        </p:txBody>
      </p:sp>
      <p:sp>
        <p:nvSpPr>
          <p:cNvPr id="3" name="Text Placeholder 2">
            <a:extLst>
              <a:ext uri="{FF2B5EF4-FFF2-40B4-BE49-F238E27FC236}">
                <a16:creationId xmlns:a16="http://schemas.microsoft.com/office/drawing/2014/main" id="{82A313E4-BC2E-1CD3-DC10-95A5D9288375}"/>
              </a:ext>
            </a:extLst>
          </p:cNvPr>
          <p:cNvSpPr>
            <a:spLocks noGrp="1"/>
          </p:cNvSpPr>
          <p:nvPr>
            <p:ph type="body" idx="1"/>
          </p:nvPr>
        </p:nvSpPr>
        <p:spPr/>
        <p:txBody>
          <a:bodyPr/>
          <a:lstStyle/>
          <a:p>
            <a:r>
              <a:rPr lang="en-US" b="1" dirty="0"/>
              <a:t>PROBLEM: </a:t>
            </a:r>
            <a:r>
              <a:rPr lang="en-US" dirty="0"/>
              <a:t>Organizations often struggle to manage employee data efficiently due to fragmented systems and manual processes. This leads to errors in payroll, difficulty in tracking employee performance, leave management issues, and lack of actionable insights for decision-making.</a:t>
            </a:r>
          </a:p>
          <a:p>
            <a:r>
              <a:rPr lang="en-US" b="1" dirty="0"/>
              <a:t>SOLUTION: </a:t>
            </a:r>
            <a:r>
              <a:rPr lang="en-US" dirty="0"/>
              <a:t>There is a need for a centralized system that can store, manage, and analyze employee-related data such as job roles, salaries, qualifications, and attendance.</a:t>
            </a:r>
          </a:p>
          <a:p>
            <a:endParaRPr lang="en-IN" dirty="0"/>
          </a:p>
        </p:txBody>
      </p:sp>
    </p:spTree>
    <p:extLst>
      <p:ext uri="{BB962C8B-B14F-4D97-AF65-F5344CB8AC3E}">
        <p14:creationId xmlns:p14="http://schemas.microsoft.com/office/powerpoint/2010/main" val="3227484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9A90A-1AD8-392F-511A-A1AEBB5E5931}"/>
              </a:ext>
            </a:extLst>
          </p:cNvPr>
          <p:cNvSpPr>
            <a:spLocks noGrp="1"/>
          </p:cNvSpPr>
          <p:nvPr>
            <p:ph type="title"/>
          </p:nvPr>
        </p:nvSpPr>
        <p:spPr/>
        <p:txBody>
          <a:bodyPr/>
          <a:lstStyle/>
          <a:p>
            <a:r>
              <a:rPr lang="en-IN" dirty="0">
                <a:solidFill>
                  <a:srgbClr val="FF0000"/>
                </a:solidFill>
                <a:latin typeface="Calibri" panose="020F0502020204030204" pitchFamily="34" charset="0"/>
                <a:ea typeface="Calibri" panose="020F0502020204030204" pitchFamily="34" charset="0"/>
                <a:cs typeface="Calibri" panose="020F0502020204030204" pitchFamily="34" charset="0"/>
              </a:rPr>
              <a:t>Introduction</a:t>
            </a:r>
          </a:p>
        </p:txBody>
      </p:sp>
      <p:sp>
        <p:nvSpPr>
          <p:cNvPr id="3" name="Text Placeholder 2">
            <a:extLst>
              <a:ext uri="{FF2B5EF4-FFF2-40B4-BE49-F238E27FC236}">
                <a16:creationId xmlns:a16="http://schemas.microsoft.com/office/drawing/2014/main" id="{8315C668-7DC6-83DB-393F-A3501A5CE280}"/>
              </a:ext>
            </a:extLst>
          </p:cNvPr>
          <p:cNvSpPr>
            <a:spLocks noGrp="1"/>
          </p:cNvSpPr>
          <p:nvPr>
            <p:ph type="body" idx="1"/>
          </p:nvPr>
        </p:nvSpPr>
        <p:spPr/>
        <p:txBody>
          <a:bodyPr/>
          <a:lstStyle/>
          <a:p>
            <a:r>
              <a:rPr lang="en-US" dirty="0"/>
              <a:t>In today’s fast-growing corporate environment, managing employee information effectively is crucial for organizational success. Human Resource departments handle </a:t>
            </a:r>
            <a:r>
              <a:rPr lang="en-US" u="sng" dirty="0"/>
              <a:t>large volumes of data </a:t>
            </a:r>
            <a:r>
              <a:rPr lang="en-US" dirty="0"/>
              <a:t>including employee records, payroll, job roles, and leave details.</a:t>
            </a:r>
          </a:p>
          <a:p>
            <a:r>
              <a:rPr lang="en-US" dirty="0"/>
              <a:t>An SQL-based Employee Management System provides a</a:t>
            </a:r>
            <a:r>
              <a:rPr lang="en-US" u="sng" dirty="0"/>
              <a:t> structured way </a:t>
            </a:r>
            <a:r>
              <a:rPr lang="en-US" dirty="0"/>
              <a:t>to </a:t>
            </a:r>
            <a:r>
              <a:rPr lang="en-US" u="sng" dirty="0"/>
              <a:t>store, retrieve, and analyze </a:t>
            </a:r>
            <a:r>
              <a:rPr lang="en-US" dirty="0"/>
              <a:t>this data. By using relational databases, organizations can ensure data accuracy, reduce redundancy, and generate meaningful insights to support strategic decisions.</a:t>
            </a:r>
          </a:p>
          <a:p>
            <a:endParaRPr lang="en-IN" dirty="0"/>
          </a:p>
        </p:txBody>
      </p:sp>
    </p:spTree>
    <p:extLst>
      <p:ext uri="{BB962C8B-B14F-4D97-AF65-F5344CB8AC3E}">
        <p14:creationId xmlns:p14="http://schemas.microsoft.com/office/powerpoint/2010/main" val="605407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sym typeface="+mn-ea"/>
              </a:rPr>
              <a:t>Objective of the Project</a:t>
            </a:r>
          </a:p>
        </p:txBody>
      </p:sp>
      <p:sp>
        <p:nvSpPr>
          <p:cNvPr id="3" name="Text Placeholder 2"/>
          <p:cNvSpPr>
            <a:spLocks noGrp="1"/>
          </p:cNvSpPr>
          <p:nvPr>
            <p:ph type="body" idx="1"/>
          </p:nvPr>
        </p:nvSpPr>
        <p:spPr>
          <a:xfrm>
            <a:off x="838200" y="1612265"/>
            <a:ext cx="10415270" cy="4439920"/>
          </a:xfrm>
        </p:spPr>
        <p:txBody>
          <a:bodyPr/>
          <a:lstStyle/>
          <a:p>
            <a:endParaRPr lang="en-US" altLang="en-US" dirty="0"/>
          </a:p>
          <a:p>
            <a:r>
              <a:rPr lang="en-US" altLang="en-US" dirty="0"/>
              <a:t>The objective of this project is to develop an SQL-based Employee Management System that efficiently organizes and manages all employee-related information, including job roles, salary details, qualifications, leave records, and payroll. The system aims to </a:t>
            </a:r>
            <a:r>
              <a:rPr lang="en-US" altLang="en-US" u="sng" dirty="0"/>
              <a:t>ensure data accuracy, streamline HR processes, and provide actionable insights </a:t>
            </a:r>
            <a:r>
              <a:rPr lang="en-US" altLang="en-US" dirty="0"/>
              <a:t>to support informed decision-making by management and human resources teams.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a:solidFill>
                  <a:srgbClr val="FF0000"/>
                </a:solidFill>
                <a:sym typeface="+mn-ea"/>
              </a:rPr>
              <a:t>ER Diagram and schema explanation</a:t>
            </a:r>
            <a:endParaRPr lang="en-US"/>
          </a:p>
        </p:txBody>
      </p:sp>
      <p:sp>
        <p:nvSpPr>
          <p:cNvPr id="3" name="Text Placeholder 2"/>
          <p:cNvSpPr>
            <a:spLocks noGrp="1"/>
          </p:cNvSpPr>
          <p:nvPr>
            <p:ph type="body" idx="1"/>
          </p:nvPr>
        </p:nvSpPr>
        <p:spPr/>
        <p:txBody>
          <a:bodyPr/>
          <a:lstStyle/>
          <a:p>
            <a:pPr marL="114300" indent="0">
              <a:buNone/>
            </a:pPr>
            <a:endParaRPr lang="en-US"/>
          </a:p>
        </p:txBody>
      </p:sp>
      <p:pic>
        <p:nvPicPr>
          <p:cNvPr id="5" name="Picture 4" descr="Screenshot 2026-02-10 231220"/>
          <p:cNvPicPr>
            <a:picLocks noChangeAspect="1"/>
          </p:cNvPicPr>
          <p:nvPr/>
        </p:nvPicPr>
        <p:blipFill>
          <a:blip r:embed="rId2"/>
          <a:stretch>
            <a:fillRect/>
          </a:stretch>
        </p:blipFill>
        <p:spPr>
          <a:xfrm>
            <a:off x="911225" y="1844675"/>
            <a:ext cx="9099550" cy="43351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750DA-29C9-EA17-D864-BA3F45AAB517}"/>
              </a:ext>
            </a:extLst>
          </p:cNvPr>
          <p:cNvSpPr>
            <a:spLocks noGrp="1"/>
          </p:cNvSpPr>
          <p:nvPr>
            <p:ph type="title"/>
          </p:nvPr>
        </p:nvSpPr>
        <p:spPr/>
        <p:txBody>
          <a:bodyPr/>
          <a:lstStyle/>
          <a:p>
            <a:r>
              <a:rPr lang="en-IN" dirty="0">
                <a:solidFill>
                  <a:srgbClr val="FF0000"/>
                </a:solidFill>
              </a:rPr>
              <a:t>SQL Concepts Demonstrated</a:t>
            </a:r>
          </a:p>
        </p:txBody>
      </p:sp>
      <p:sp>
        <p:nvSpPr>
          <p:cNvPr id="3" name="Text Placeholder 2">
            <a:extLst>
              <a:ext uri="{FF2B5EF4-FFF2-40B4-BE49-F238E27FC236}">
                <a16:creationId xmlns:a16="http://schemas.microsoft.com/office/drawing/2014/main" id="{84194A66-70B2-7AD8-EA10-B5EA6518F13E}"/>
              </a:ext>
            </a:extLst>
          </p:cNvPr>
          <p:cNvSpPr>
            <a:spLocks noGrp="1"/>
          </p:cNvSpPr>
          <p:nvPr>
            <p:ph type="body" idx="1"/>
          </p:nvPr>
        </p:nvSpPr>
        <p:spPr/>
        <p:txBody>
          <a:bodyPr/>
          <a:lstStyle/>
          <a:p>
            <a:r>
              <a:rPr lang="en-US" dirty="0"/>
              <a:t>Relational database design</a:t>
            </a:r>
          </a:p>
          <a:p>
            <a:r>
              <a:rPr lang="en-US" dirty="0"/>
              <a:t>CREATE TABLE and constraints</a:t>
            </a:r>
          </a:p>
          <a:p>
            <a:r>
              <a:rPr lang="en-US" dirty="0"/>
              <a:t>PRIMARY KEY and FOREIGN KEY</a:t>
            </a:r>
          </a:p>
          <a:p>
            <a:r>
              <a:rPr lang="en-US" dirty="0"/>
              <a:t>JOIN operations</a:t>
            </a:r>
          </a:p>
          <a:p>
            <a:r>
              <a:rPr lang="en-US" dirty="0"/>
              <a:t>GROUP BY and aggregate functions</a:t>
            </a:r>
          </a:p>
          <a:p>
            <a:r>
              <a:rPr lang="en-US" dirty="0"/>
              <a:t>ORDER BY and filtering</a:t>
            </a:r>
          </a:p>
          <a:p>
            <a:r>
              <a:rPr lang="en-US" dirty="0"/>
              <a:t>Business-oriented SQL analysis</a:t>
            </a:r>
            <a:endParaRPr lang="en-IN" dirty="0"/>
          </a:p>
        </p:txBody>
      </p:sp>
    </p:spTree>
    <p:extLst>
      <p:ext uri="{BB962C8B-B14F-4D97-AF65-F5344CB8AC3E}">
        <p14:creationId xmlns:p14="http://schemas.microsoft.com/office/powerpoint/2010/main" val="2101733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966" y="17938"/>
            <a:ext cx="10515600" cy="1325563"/>
          </a:xfrm>
        </p:spPr>
        <p:txBody>
          <a:bodyPr/>
          <a:lstStyle/>
          <a:p>
            <a:r>
              <a:rPr lang="en-IN" b="1" dirty="0">
                <a:solidFill>
                  <a:srgbClr val="FF0000"/>
                </a:solidFill>
                <a:sym typeface="+mn-ea"/>
              </a:rPr>
              <a:t>Key analysis questions</a:t>
            </a:r>
          </a:p>
        </p:txBody>
      </p:sp>
      <p:sp>
        <p:nvSpPr>
          <p:cNvPr id="3" name="Text Placeholder 2"/>
          <p:cNvSpPr>
            <a:spLocks noGrp="1"/>
          </p:cNvSpPr>
          <p:nvPr>
            <p:ph type="body" idx="1"/>
          </p:nvPr>
        </p:nvSpPr>
        <p:spPr>
          <a:xfrm>
            <a:off x="549967" y="1123123"/>
            <a:ext cx="10803834" cy="5054158"/>
          </a:xfrm>
        </p:spPr>
        <p:txBody>
          <a:bodyPr/>
          <a:lstStyle/>
          <a:p>
            <a:pPr marL="114300" indent="0">
              <a:buNone/>
            </a:pPr>
            <a:r>
              <a:rPr lang="en-IN" altLang="en-US" dirty="0">
                <a:sym typeface="+mn-ea"/>
              </a:rPr>
              <a:t>1.2 </a:t>
            </a:r>
            <a:r>
              <a:rPr lang="en-US" altLang="en-US" dirty="0">
                <a:sym typeface="+mn-ea"/>
              </a:rPr>
              <a:t> Which departments have the highest number of employees?</a:t>
            </a:r>
          </a:p>
          <a:p>
            <a:pPr marL="114300" indent="0">
              <a:buNone/>
            </a:pPr>
            <a:endParaRPr lang="en-US" altLang="en-US" dirty="0"/>
          </a:p>
        </p:txBody>
      </p:sp>
      <p:sp>
        <p:nvSpPr>
          <p:cNvPr id="5" name="Text Placeholder 2"/>
          <p:cNvSpPr txBox="1">
            <a:spLocks/>
          </p:cNvSpPr>
          <p:nvPr/>
        </p:nvSpPr>
        <p:spPr>
          <a:xfrm>
            <a:off x="766969" y="2017657"/>
            <a:ext cx="10515600" cy="479996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42900" algn="l" rtl="0">
              <a:lnSpc>
                <a:spcPct val="90000"/>
              </a:lnSpc>
              <a:spcBef>
                <a:spcPts val="500"/>
              </a:spcBef>
              <a:spcAft>
                <a:spcPts val="0"/>
              </a:spcAft>
              <a:buClr>
                <a:schemeClr val="dk1"/>
              </a:buClr>
              <a:buSzPts val="18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42900" algn="l" rtl="0">
              <a:lnSpc>
                <a:spcPct val="90000"/>
              </a:lnSpc>
              <a:spcBef>
                <a:spcPts val="500"/>
              </a:spcBef>
              <a:spcAft>
                <a:spcPts val="0"/>
              </a:spcAft>
              <a:buClr>
                <a:schemeClr val="dk1"/>
              </a:buClr>
              <a:buSzPts val="18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114300" indent="0">
              <a:buFont typeface="Arial" panose="020B0604020202020204"/>
              <a:buNone/>
            </a:pPr>
            <a:endParaRPr lang="en-US" altLang="en-US" dirty="0">
              <a:sym typeface="+mn-ea"/>
            </a:endParaRPr>
          </a:p>
          <a:p>
            <a:pPr marL="114300" indent="0">
              <a:buFont typeface="Arial" panose="020B0604020202020204"/>
              <a:buNone/>
            </a:pPr>
            <a:endParaRPr lang="en-US" altLang="en-US" dirty="0">
              <a:sym typeface="+mn-ea"/>
            </a:endParaRPr>
          </a:p>
          <a:p>
            <a:pPr marL="114300" indent="0">
              <a:buFont typeface="Arial" panose="020B0604020202020204"/>
              <a:buNone/>
            </a:pPr>
            <a:endParaRPr lang="en-US" altLang="en-US" dirty="0">
              <a:sym typeface="+mn-ea"/>
            </a:endParaRPr>
          </a:p>
          <a:p>
            <a:pPr marL="114300" indent="0">
              <a:buFont typeface="Arial" panose="020B0604020202020204"/>
              <a:buNone/>
            </a:pPr>
            <a:r>
              <a:rPr lang="en-US" altLang="en-US" dirty="0">
                <a:sym typeface="+mn-ea"/>
              </a:rPr>
              <a:t>What is the average salary per department?</a:t>
            </a:r>
            <a:endParaRPr lang="en-US" altLang="en-US" dirty="0"/>
          </a:p>
        </p:txBody>
      </p:sp>
      <p:pic>
        <p:nvPicPr>
          <p:cNvPr id="6" name="Picture 5" descr="Screenshot 2026-02-11 000057"/>
          <p:cNvPicPr>
            <a:picLocks noChangeAspect="1"/>
          </p:cNvPicPr>
          <p:nvPr/>
        </p:nvPicPr>
        <p:blipFill>
          <a:blip r:embed="rId2"/>
          <a:stretch>
            <a:fillRect/>
          </a:stretch>
        </p:blipFill>
        <p:spPr>
          <a:xfrm>
            <a:off x="1299176" y="1927393"/>
            <a:ext cx="5230167" cy="1618351"/>
          </a:xfrm>
          <a:prstGeom prst="rect">
            <a:avLst/>
          </a:prstGeom>
        </p:spPr>
      </p:pic>
      <p:pic>
        <p:nvPicPr>
          <p:cNvPr id="7" name="Picture 6" descr="Screenshot 2026-02-11 000159"/>
          <p:cNvPicPr>
            <a:picLocks noChangeAspect="1"/>
          </p:cNvPicPr>
          <p:nvPr/>
        </p:nvPicPr>
        <p:blipFill>
          <a:blip r:embed="rId3"/>
          <a:stretch>
            <a:fillRect/>
          </a:stretch>
        </p:blipFill>
        <p:spPr>
          <a:xfrm>
            <a:off x="7692887" y="1839607"/>
            <a:ext cx="2593206" cy="2267699"/>
          </a:xfrm>
          <a:prstGeom prst="rect">
            <a:avLst/>
          </a:prstGeom>
        </p:spPr>
      </p:pic>
      <p:pic>
        <p:nvPicPr>
          <p:cNvPr id="10" name="Picture 9" descr="Screenshot 2026-02-11 000427"/>
          <p:cNvPicPr>
            <a:picLocks noChangeAspect="1"/>
          </p:cNvPicPr>
          <p:nvPr/>
        </p:nvPicPr>
        <p:blipFill>
          <a:blip r:embed="rId4"/>
          <a:stretch>
            <a:fillRect/>
          </a:stretch>
        </p:blipFill>
        <p:spPr>
          <a:xfrm>
            <a:off x="1075170" y="4276394"/>
            <a:ext cx="5574137" cy="1844868"/>
          </a:xfrm>
          <a:prstGeom prst="rect">
            <a:avLst/>
          </a:prstGeom>
        </p:spPr>
      </p:pic>
      <p:pic>
        <p:nvPicPr>
          <p:cNvPr id="11" name="Picture 10" descr="Screenshot 2026-02-11 000547"/>
          <p:cNvPicPr>
            <a:picLocks noChangeAspect="1"/>
          </p:cNvPicPr>
          <p:nvPr/>
        </p:nvPicPr>
        <p:blipFill>
          <a:blip r:embed="rId5"/>
          <a:stretch>
            <a:fillRect/>
          </a:stretch>
        </p:blipFill>
        <p:spPr>
          <a:xfrm>
            <a:off x="6451505" y="4344011"/>
            <a:ext cx="2283333" cy="22641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8205"/>
          </a:xfrm>
        </p:spPr>
        <p:txBody>
          <a:bodyPr>
            <a:normAutofit fontScale="90000"/>
          </a:bodyPr>
          <a:lstStyle/>
          <a:p>
            <a:r>
              <a:rPr lang="en-US" altLang="en-US" sz="3110"/>
              <a:t>Who are the top 5 highest-paid employees?</a:t>
            </a:r>
            <a:br>
              <a:rPr lang="en-US" altLang="en-US" sz="3110"/>
            </a:br>
            <a:endParaRPr lang="en-US" altLang="en-US" sz="3110"/>
          </a:p>
        </p:txBody>
      </p:sp>
      <p:sp>
        <p:nvSpPr>
          <p:cNvPr id="3" name="Text Placeholder 2"/>
          <p:cNvSpPr>
            <a:spLocks noGrp="1"/>
          </p:cNvSpPr>
          <p:nvPr>
            <p:ph type="body" idx="1"/>
          </p:nvPr>
        </p:nvSpPr>
        <p:spPr>
          <a:xfrm>
            <a:off x="723900" y="1290955"/>
            <a:ext cx="10629900" cy="4886325"/>
          </a:xfrm>
        </p:spPr>
        <p:txBody>
          <a:bodyPr/>
          <a:lstStyle/>
          <a:p>
            <a:pPr marL="114300" indent="0">
              <a:buNone/>
            </a:pPr>
            <a:endParaRPr lang="en-IN" altLang="en-US" dirty="0">
              <a:sym typeface="+mn-ea"/>
            </a:endParaRPr>
          </a:p>
          <a:p>
            <a:pPr marL="114300" indent="0">
              <a:buNone/>
            </a:pPr>
            <a:endParaRPr lang="en-IN" altLang="en-US" dirty="0">
              <a:sym typeface="+mn-ea"/>
            </a:endParaRPr>
          </a:p>
          <a:p>
            <a:pPr marL="114300" indent="0">
              <a:buNone/>
            </a:pPr>
            <a:endParaRPr lang="en-IN" altLang="en-US" dirty="0">
              <a:sym typeface="+mn-ea"/>
            </a:endParaRPr>
          </a:p>
          <a:p>
            <a:pPr marL="114300" indent="0">
              <a:buNone/>
            </a:pPr>
            <a:endParaRPr lang="en-IN" altLang="en-US" dirty="0">
              <a:sym typeface="+mn-ea"/>
            </a:endParaRPr>
          </a:p>
        </p:txBody>
      </p:sp>
      <p:pic>
        <p:nvPicPr>
          <p:cNvPr id="6" name="Picture 5" descr="Screenshot 2026-02-11 001327"/>
          <p:cNvPicPr>
            <a:picLocks noChangeAspect="1"/>
          </p:cNvPicPr>
          <p:nvPr/>
        </p:nvPicPr>
        <p:blipFill>
          <a:blip r:embed="rId2"/>
          <a:stretch>
            <a:fillRect/>
          </a:stretch>
        </p:blipFill>
        <p:spPr>
          <a:xfrm>
            <a:off x="1199514" y="1124585"/>
            <a:ext cx="4691105" cy="4442460"/>
          </a:xfrm>
          <a:prstGeom prst="rect">
            <a:avLst/>
          </a:prstGeom>
        </p:spPr>
      </p:pic>
      <p:pic>
        <p:nvPicPr>
          <p:cNvPr id="7" name="Picture 6" descr="Screenshot 2026-02-11 001418"/>
          <p:cNvPicPr>
            <a:picLocks noChangeAspect="1"/>
          </p:cNvPicPr>
          <p:nvPr/>
        </p:nvPicPr>
        <p:blipFill>
          <a:blip r:embed="rId3"/>
          <a:stretch>
            <a:fillRect/>
          </a:stretch>
        </p:blipFill>
        <p:spPr>
          <a:xfrm>
            <a:off x="5564429" y="2002790"/>
            <a:ext cx="6627571" cy="27614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425" y="365125"/>
            <a:ext cx="10493375" cy="1082675"/>
          </a:xfrm>
        </p:spPr>
        <p:txBody>
          <a:bodyPr>
            <a:normAutofit/>
          </a:bodyPr>
          <a:lstStyle/>
          <a:p>
            <a:r>
              <a:rPr lang="en-US" altLang="en-US"/>
              <a:t>2. JOB ROLE AND DEPARTMENT ANALYSIS</a:t>
            </a:r>
          </a:p>
        </p:txBody>
      </p:sp>
      <p:sp>
        <p:nvSpPr>
          <p:cNvPr id="3" name="Text Placeholder 2"/>
          <p:cNvSpPr>
            <a:spLocks noGrp="1"/>
          </p:cNvSpPr>
          <p:nvPr>
            <p:ph type="body" idx="1"/>
          </p:nvPr>
        </p:nvSpPr>
        <p:spPr>
          <a:xfrm>
            <a:off x="652780" y="1447800"/>
            <a:ext cx="10701020" cy="4729480"/>
          </a:xfrm>
        </p:spPr>
        <p:txBody>
          <a:bodyPr/>
          <a:lstStyle/>
          <a:p>
            <a:pPr marL="114300" indent="0">
              <a:buNone/>
            </a:pPr>
            <a:r>
              <a:rPr lang="en-IN" altLang="en-US">
                <a:sym typeface="+mn-ea"/>
              </a:rPr>
              <a:t>2.1 </a:t>
            </a:r>
            <a:r>
              <a:rPr lang="en-US" altLang="en-US">
                <a:sym typeface="+mn-ea"/>
              </a:rPr>
              <a:t>How many different job roles exist in each department?</a:t>
            </a:r>
            <a:endParaRPr lang="en-US"/>
          </a:p>
        </p:txBody>
      </p:sp>
      <p:pic>
        <p:nvPicPr>
          <p:cNvPr id="4" name="Picture 3" descr="Screenshot 2026-02-11 001835"/>
          <p:cNvPicPr>
            <a:picLocks noChangeAspect="1"/>
          </p:cNvPicPr>
          <p:nvPr/>
        </p:nvPicPr>
        <p:blipFill>
          <a:blip r:embed="rId2"/>
          <a:stretch>
            <a:fillRect/>
          </a:stretch>
        </p:blipFill>
        <p:spPr>
          <a:xfrm>
            <a:off x="888365" y="2276474"/>
            <a:ext cx="5754680" cy="1006221"/>
          </a:xfrm>
          <a:prstGeom prst="rect">
            <a:avLst/>
          </a:prstGeom>
        </p:spPr>
      </p:pic>
      <p:pic>
        <p:nvPicPr>
          <p:cNvPr id="5" name="Picture 4" descr="Screenshot 2026-02-11 001916"/>
          <p:cNvPicPr>
            <a:picLocks noChangeAspect="1"/>
          </p:cNvPicPr>
          <p:nvPr/>
        </p:nvPicPr>
        <p:blipFill>
          <a:blip r:embed="rId3"/>
          <a:stretch>
            <a:fillRect/>
          </a:stretch>
        </p:blipFill>
        <p:spPr>
          <a:xfrm>
            <a:off x="7463790" y="2075815"/>
            <a:ext cx="1836420" cy="1600200"/>
          </a:xfrm>
          <a:prstGeom prst="rect">
            <a:avLst/>
          </a:prstGeom>
        </p:spPr>
      </p:pic>
      <p:sp>
        <p:nvSpPr>
          <p:cNvPr id="6" name="Text Box 5"/>
          <p:cNvSpPr txBox="1"/>
          <p:nvPr/>
        </p:nvSpPr>
        <p:spPr>
          <a:xfrm>
            <a:off x="805180" y="3783965"/>
            <a:ext cx="8957310" cy="617220"/>
          </a:xfrm>
          <a:prstGeom prst="rect">
            <a:avLst/>
          </a:prstGeom>
        </p:spPr>
        <p:txBody>
          <a:bodyPr wrap="square">
            <a:noAutofit/>
          </a:bodyPr>
          <a:lstStyle/>
          <a:p>
            <a:r>
              <a:rPr lang="en-IN" altLang="en-US" sz="2800">
                <a:solidFill>
                  <a:srgbClr val="000000"/>
                </a:solidFill>
                <a:latin typeface="Arial" panose="020B0604020202020204"/>
                <a:ea typeface="Arial" panose="020B0604020202020204"/>
              </a:rPr>
              <a:t>2.2 </a:t>
            </a:r>
            <a:r>
              <a:rPr lang="en-US" altLang="zh-CN" sz="2800">
                <a:solidFill>
                  <a:srgbClr val="000000"/>
                </a:solidFill>
                <a:latin typeface="Arial" panose="020B0604020202020204"/>
                <a:ea typeface="Arial" panose="020B0604020202020204"/>
              </a:rPr>
              <a:t>What is the average salary range per department?</a:t>
            </a:r>
          </a:p>
        </p:txBody>
      </p:sp>
      <p:pic>
        <p:nvPicPr>
          <p:cNvPr id="7" name="Picture 6" descr="Screenshot 2026-02-11 002228"/>
          <p:cNvPicPr>
            <a:picLocks noChangeAspect="1"/>
          </p:cNvPicPr>
          <p:nvPr/>
        </p:nvPicPr>
        <p:blipFill>
          <a:blip r:embed="rId4"/>
          <a:stretch>
            <a:fillRect/>
          </a:stretch>
        </p:blipFill>
        <p:spPr>
          <a:xfrm>
            <a:off x="805180" y="4323463"/>
            <a:ext cx="10390798" cy="1827910"/>
          </a:xfrm>
          <a:prstGeom prst="rect">
            <a:avLst/>
          </a:prstGeom>
        </p:spPr>
      </p:pic>
      <p:pic>
        <p:nvPicPr>
          <p:cNvPr id="8" name="Picture 7" descr="Screenshot 2026-02-11 002346"/>
          <p:cNvPicPr>
            <a:picLocks noChangeAspect="1"/>
          </p:cNvPicPr>
          <p:nvPr/>
        </p:nvPicPr>
        <p:blipFill>
          <a:blip r:embed="rId5"/>
          <a:stretch>
            <a:fillRect/>
          </a:stretch>
        </p:blipFill>
        <p:spPr>
          <a:xfrm>
            <a:off x="6300216" y="4877435"/>
            <a:ext cx="3116580" cy="16154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5990"/>
          </a:xfrm>
        </p:spPr>
        <p:txBody>
          <a:bodyPr/>
          <a:lstStyle/>
          <a:p>
            <a:r>
              <a:rPr lang="en-US" altLang="en-US" sz="2800"/>
              <a:t>Which job roles offer the highest salary?</a:t>
            </a:r>
            <a:br>
              <a:rPr lang="en-US" altLang="en-US" sz="2800"/>
            </a:br>
            <a:endParaRPr lang="en-US" altLang="en-US" sz="2800"/>
          </a:p>
        </p:txBody>
      </p:sp>
      <p:sp>
        <p:nvSpPr>
          <p:cNvPr id="3" name="Text Placeholder 2"/>
          <p:cNvSpPr>
            <a:spLocks noGrp="1"/>
          </p:cNvSpPr>
          <p:nvPr>
            <p:ph type="body" idx="1"/>
          </p:nvPr>
        </p:nvSpPr>
        <p:spPr>
          <a:xfrm>
            <a:off x="838200" y="1416050"/>
            <a:ext cx="10515600" cy="4761230"/>
          </a:xfrm>
        </p:spPr>
        <p:txBody>
          <a:bodyPr/>
          <a:lstStyle/>
          <a:p>
            <a:pPr marL="114300" indent="0">
              <a:buNone/>
            </a:pPr>
            <a:endParaRPr lang="en-US" altLang="en-US">
              <a:sym typeface="+mn-ea"/>
            </a:endParaRPr>
          </a:p>
          <a:p>
            <a:pPr marL="114300" indent="0">
              <a:buNone/>
            </a:pPr>
            <a:endParaRPr lang="en-US" altLang="en-US">
              <a:sym typeface="+mn-ea"/>
            </a:endParaRPr>
          </a:p>
          <a:p>
            <a:pPr marL="114300" indent="0">
              <a:buNone/>
            </a:pPr>
            <a:endParaRPr lang="en-US" altLang="en-US">
              <a:sym typeface="+mn-ea"/>
            </a:endParaRPr>
          </a:p>
          <a:p>
            <a:pPr marL="114300" indent="0">
              <a:buNone/>
            </a:pPr>
            <a:endParaRPr lang="en-US" altLang="en-US">
              <a:sym typeface="+mn-ea"/>
            </a:endParaRPr>
          </a:p>
          <a:p>
            <a:pPr marL="114300" indent="0">
              <a:buNone/>
            </a:pPr>
            <a:r>
              <a:rPr lang="en-US" altLang="en-US">
                <a:sym typeface="+mn-ea"/>
              </a:rPr>
              <a:t>Which departments have the highest total salary allocation?</a:t>
            </a:r>
            <a:endParaRPr lang="en-US" altLang="en-US"/>
          </a:p>
          <a:p>
            <a:endParaRPr lang="en-US"/>
          </a:p>
        </p:txBody>
      </p:sp>
      <p:pic>
        <p:nvPicPr>
          <p:cNvPr id="6" name="Picture 5" descr="Screenshot 2026-02-11 002913"/>
          <p:cNvPicPr>
            <a:picLocks noChangeAspect="1"/>
          </p:cNvPicPr>
          <p:nvPr/>
        </p:nvPicPr>
        <p:blipFill>
          <a:blip r:embed="rId2"/>
          <a:stretch>
            <a:fillRect/>
          </a:stretch>
        </p:blipFill>
        <p:spPr>
          <a:xfrm>
            <a:off x="6651307" y="833120"/>
            <a:ext cx="2862453" cy="2771869"/>
          </a:xfrm>
          <a:prstGeom prst="rect">
            <a:avLst/>
          </a:prstGeom>
        </p:spPr>
      </p:pic>
      <p:pic>
        <p:nvPicPr>
          <p:cNvPr id="7" name="Picture 6" descr="Screenshot 2026-02-11 003001"/>
          <p:cNvPicPr>
            <a:picLocks noChangeAspect="1"/>
          </p:cNvPicPr>
          <p:nvPr/>
        </p:nvPicPr>
        <p:blipFill>
          <a:blip r:embed="rId3"/>
          <a:stretch>
            <a:fillRect/>
          </a:stretch>
        </p:blipFill>
        <p:spPr>
          <a:xfrm>
            <a:off x="1045845" y="4220845"/>
            <a:ext cx="5711190" cy="1842319"/>
          </a:xfrm>
          <a:prstGeom prst="rect">
            <a:avLst/>
          </a:prstGeom>
        </p:spPr>
      </p:pic>
      <p:pic>
        <p:nvPicPr>
          <p:cNvPr id="8" name="Picture 7" descr="Screenshot 2026-02-11 003045"/>
          <p:cNvPicPr>
            <a:picLocks noChangeAspect="1"/>
          </p:cNvPicPr>
          <p:nvPr/>
        </p:nvPicPr>
        <p:blipFill>
          <a:blip r:embed="rId4"/>
          <a:stretch>
            <a:fillRect/>
          </a:stretch>
        </p:blipFill>
        <p:spPr>
          <a:xfrm>
            <a:off x="6845809" y="4220845"/>
            <a:ext cx="2225040" cy="2102561"/>
          </a:xfrm>
          <a:prstGeom prst="rect">
            <a:avLst/>
          </a:prstGeom>
        </p:spPr>
      </p:pic>
      <p:pic>
        <p:nvPicPr>
          <p:cNvPr id="9" name="Picture 8" descr="Screenshot 2026-02-11 003136"/>
          <p:cNvPicPr>
            <a:picLocks noChangeAspect="1"/>
          </p:cNvPicPr>
          <p:nvPr/>
        </p:nvPicPr>
        <p:blipFill>
          <a:blip r:embed="rId5"/>
          <a:stretch>
            <a:fillRect/>
          </a:stretch>
        </p:blipFill>
        <p:spPr>
          <a:xfrm>
            <a:off x="689080" y="1269924"/>
            <a:ext cx="5119266" cy="15648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800" dirty="0"/>
              <a:t>3. QUALIFICATION AND SKILLS ANALYSIS</a:t>
            </a:r>
          </a:p>
        </p:txBody>
      </p:sp>
      <p:sp>
        <p:nvSpPr>
          <p:cNvPr id="3" name="Text Placeholder 2"/>
          <p:cNvSpPr>
            <a:spLocks noGrp="1"/>
          </p:cNvSpPr>
          <p:nvPr>
            <p:ph type="body" idx="1"/>
          </p:nvPr>
        </p:nvSpPr>
        <p:spPr/>
        <p:txBody>
          <a:bodyPr/>
          <a:lstStyle/>
          <a:p>
            <a:pPr marL="114300" indent="0">
              <a:buNone/>
            </a:pPr>
            <a:endParaRPr lang="en-US" altLang="en-US" dirty="0"/>
          </a:p>
          <a:p>
            <a:pPr marL="114300" indent="0">
              <a:buNone/>
            </a:pPr>
            <a:endParaRPr lang="en-US" altLang="en-US" dirty="0"/>
          </a:p>
          <a:p>
            <a:pPr marL="114300" indent="0">
              <a:buNone/>
            </a:pPr>
            <a:endParaRPr lang="en-US" altLang="en-US" dirty="0"/>
          </a:p>
        </p:txBody>
      </p:sp>
      <p:sp>
        <p:nvSpPr>
          <p:cNvPr id="8" name="Text Box 7"/>
          <p:cNvSpPr txBox="1"/>
          <p:nvPr/>
        </p:nvSpPr>
        <p:spPr>
          <a:xfrm>
            <a:off x="931418" y="1912620"/>
            <a:ext cx="9108694" cy="975360"/>
          </a:xfrm>
          <a:prstGeom prst="rect">
            <a:avLst/>
          </a:prstGeom>
        </p:spPr>
        <p:txBody>
          <a:bodyPr>
            <a:noAutofit/>
          </a:bodyPr>
          <a:lstStyle/>
          <a:p>
            <a:r>
              <a:rPr lang="en-US" altLang="zh-CN" sz="2800" dirty="0">
                <a:solidFill>
                  <a:srgbClr val="000000"/>
                </a:solidFill>
                <a:latin typeface="Arial" panose="020B0604020202020204"/>
                <a:ea typeface="Arial" panose="020B0604020202020204"/>
              </a:rPr>
              <a:t>Which positions require the most qualifications?</a:t>
            </a:r>
          </a:p>
        </p:txBody>
      </p:sp>
      <p:pic>
        <p:nvPicPr>
          <p:cNvPr id="9" name="Picture 8" descr="Screenshot 2026-02-11 003529"/>
          <p:cNvPicPr>
            <a:picLocks noChangeAspect="1"/>
          </p:cNvPicPr>
          <p:nvPr/>
        </p:nvPicPr>
        <p:blipFill>
          <a:blip r:embed="rId2"/>
          <a:stretch>
            <a:fillRect/>
          </a:stretch>
        </p:blipFill>
        <p:spPr>
          <a:xfrm>
            <a:off x="1058208" y="2887980"/>
            <a:ext cx="6739438" cy="1960564"/>
          </a:xfrm>
          <a:prstGeom prst="rect">
            <a:avLst/>
          </a:prstGeom>
        </p:spPr>
      </p:pic>
      <p:pic>
        <p:nvPicPr>
          <p:cNvPr id="10" name="Picture 9" descr="Screenshot 2026-02-11 003639"/>
          <p:cNvPicPr>
            <a:picLocks noChangeAspect="1"/>
          </p:cNvPicPr>
          <p:nvPr/>
        </p:nvPicPr>
        <p:blipFill>
          <a:blip r:embed="rId3"/>
          <a:stretch>
            <a:fillRect/>
          </a:stretch>
        </p:blipFill>
        <p:spPr>
          <a:xfrm>
            <a:off x="7764074" y="2974975"/>
            <a:ext cx="2879090" cy="299905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3110"/>
              <a:t>Which employees have the highest number of qualifications?</a:t>
            </a:r>
          </a:p>
        </p:txBody>
      </p:sp>
      <p:sp>
        <p:nvSpPr>
          <p:cNvPr id="3" name="Text Placeholder 2"/>
          <p:cNvSpPr>
            <a:spLocks noGrp="1"/>
          </p:cNvSpPr>
          <p:nvPr>
            <p:ph type="body" idx="1"/>
          </p:nvPr>
        </p:nvSpPr>
        <p:spPr/>
        <p:txBody>
          <a:bodyPr/>
          <a:lstStyle/>
          <a:p>
            <a:endParaRPr lang="en-US" dirty="0"/>
          </a:p>
        </p:txBody>
      </p:sp>
      <p:pic>
        <p:nvPicPr>
          <p:cNvPr id="4" name="Picture 3" descr="Screenshot 2026-02-11 003754"/>
          <p:cNvPicPr>
            <a:picLocks noChangeAspect="1"/>
          </p:cNvPicPr>
          <p:nvPr/>
        </p:nvPicPr>
        <p:blipFill>
          <a:blip r:embed="rId2"/>
          <a:stretch>
            <a:fillRect/>
          </a:stretch>
        </p:blipFill>
        <p:spPr>
          <a:xfrm>
            <a:off x="940989" y="1825624"/>
            <a:ext cx="9210968" cy="1978279"/>
          </a:xfrm>
          <a:prstGeom prst="rect">
            <a:avLst/>
          </a:prstGeom>
        </p:spPr>
      </p:pic>
      <p:pic>
        <p:nvPicPr>
          <p:cNvPr id="5" name="Picture 4" descr="Screenshot 2026-02-11 003831"/>
          <p:cNvPicPr>
            <a:picLocks noChangeAspect="1"/>
          </p:cNvPicPr>
          <p:nvPr/>
        </p:nvPicPr>
        <p:blipFill>
          <a:blip r:embed="rId3"/>
          <a:stretch>
            <a:fillRect/>
          </a:stretch>
        </p:blipFill>
        <p:spPr>
          <a:xfrm>
            <a:off x="7446028" y="2813033"/>
            <a:ext cx="3371324" cy="314656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3430"/>
          </a:xfrm>
        </p:spPr>
        <p:txBody>
          <a:bodyPr>
            <a:normAutofit fontScale="90000"/>
          </a:bodyPr>
          <a:lstStyle/>
          <a:p>
            <a:r>
              <a:rPr lang="en-US" altLang="en-US" sz="2800"/>
              <a:t>4. LEAVE AND ABSENCE PATTERNS</a:t>
            </a:r>
            <a:br>
              <a:rPr lang="en-US" altLang="en-US" sz="2800"/>
            </a:br>
            <a:endParaRPr lang="en-US" altLang="en-US" sz="2800"/>
          </a:p>
        </p:txBody>
      </p:sp>
      <p:sp>
        <p:nvSpPr>
          <p:cNvPr id="3" name="Text Placeholder 2"/>
          <p:cNvSpPr>
            <a:spLocks noGrp="1"/>
          </p:cNvSpPr>
          <p:nvPr>
            <p:ph type="body" idx="1"/>
          </p:nvPr>
        </p:nvSpPr>
        <p:spPr>
          <a:xfrm>
            <a:off x="838200" y="1055370"/>
            <a:ext cx="10515600" cy="5121910"/>
          </a:xfrm>
        </p:spPr>
        <p:txBody>
          <a:bodyPr/>
          <a:lstStyle/>
          <a:p>
            <a:pPr marL="114300" indent="0">
              <a:buNone/>
            </a:pPr>
            <a:r>
              <a:rPr lang="en-US" altLang="en-US" dirty="0">
                <a:sym typeface="+mn-ea"/>
              </a:rPr>
              <a:t>Which year had the most employees taking leaves?</a:t>
            </a:r>
            <a:br>
              <a:rPr lang="en-US" altLang="en-US" dirty="0">
                <a:sym typeface="+mn-ea"/>
              </a:rPr>
            </a:br>
            <a:endParaRPr lang="en-US" altLang="en-US" dirty="0">
              <a:sym typeface="+mn-ea"/>
            </a:endParaRPr>
          </a:p>
          <a:p>
            <a:pPr marL="114300" indent="0">
              <a:buNone/>
            </a:pPr>
            <a:endParaRPr lang="en-US" altLang="en-US" dirty="0">
              <a:sym typeface="+mn-ea"/>
            </a:endParaRPr>
          </a:p>
          <a:p>
            <a:pPr marL="114300" indent="0">
              <a:buNone/>
            </a:pPr>
            <a:endParaRPr lang="en-US" altLang="en-US" dirty="0">
              <a:sym typeface="+mn-ea"/>
            </a:endParaRPr>
          </a:p>
          <a:p>
            <a:pPr marL="114300" indent="0">
              <a:buNone/>
            </a:pPr>
            <a:endParaRPr lang="en-US" altLang="en-US" dirty="0">
              <a:sym typeface="+mn-ea"/>
            </a:endParaRPr>
          </a:p>
        </p:txBody>
      </p:sp>
      <p:pic>
        <p:nvPicPr>
          <p:cNvPr id="4" name="Picture 3" descr="Screenshot 2026-02-11 004021"/>
          <p:cNvPicPr>
            <a:picLocks noChangeAspect="1"/>
          </p:cNvPicPr>
          <p:nvPr/>
        </p:nvPicPr>
        <p:blipFill>
          <a:blip r:embed="rId2"/>
          <a:stretch>
            <a:fillRect/>
          </a:stretch>
        </p:blipFill>
        <p:spPr>
          <a:xfrm>
            <a:off x="838200" y="2623375"/>
            <a:ext cx="7495167" cy="1985899"/>
          </a:xfrm>
          <a:prstGeom prst="rect">
            <a:avLst/>
          </a:prstGeom>
        </p:spPr>
      </p:pic>
      <p:pic>
        <p:nvPicPr>
          <p:cNvPr id="5" name="Picture 4" descr="Screenshot 2026-02-11 004116"/>
          <p:cNvPicPr>
            <a:picLocks noChangeAspect="1"/>
          </p:cNvPicPr>
          <p:nvPr/>
        </p:nvPicPr>
        <p:blipFill>
          <a:blip r:embed="rId3"/>
          <a:stretch>
            <a:fillRect/>
          </a:stretch>
        </p:blipFill>
        <p:spPr>
          <a:xfrm>
            <a:off x="8821673" y="3034284"/>
            <a:ext cx="2959739" cy="102565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6765" y="207010"/>
            <a:ext cx="10567035" cy="960120"/>
          </a:xfrm>
        </p:spPr>
        <p:txBody>
          <a:bodyPr/>
          <a:lstStyle/>
          <a:p>
            <a:r>
              <a:rPr lang="en-US" altLang="en-US" sz="2800"/>
              <a:t>Which employees have taken the most leaves?</a:t>
            </a:r>
            <a:br>
              <a:rPr lang="en-US" altLang="en-US" sz="2800"/>
            </a:br>
            <a:endParaRPr lang="en-US" altLang="en-US" sz="2800"/>
          </a:p>
        </p:txBody>
      </p:sp>
      <p:sp>
        <p:nvSpPr>
          <p:cNvPr id="3" name="Text Placeholder 2"/>
          <p:cNvSpPr>
            <a:spLocks noGrp="1"/>
          </p:cNvSpPr>
          <p:nvPr>
            <p:ph type="body" idx="1"/>
          </p:nvPr>
        </p:nvSpPr>
        <p:spPr>
          <a:xfrm>
            <a:off x="838200" y="1075055"/>
            <a:ext cx="10515600" cy="5102225"/>
          </a:xfrm>
        </p:spPr>
        <p:txBody>
          <a:bodyPr>
            <a:normAutofit/>
          </a:bodyPr>
          <a:lstStyle/>
          <a:p>
            <a:pPr marL="114300" indent="0">
              <a:buNone/>
            </a:pPr>
            <a:endParaRPr lang="en-US" dirty="0"/>
          </a:p>
        </p:txBody>
      </p:sp>
      <p:pic>
        <p:nvPicPr>
          <p:cNvPr id="4" name="Picture 3" descr="Screenshot 2026-02-11 004316"/>
          <p:cNvPicPr>
            <a:picLocks noChangeAspect="1"/>
          </p:cNvPicPr>
          <p:nvPr/>
        </p:nvPicPr>
        <p:blipFill>
          <a:blip r:embed="rId2"/>
          <a:stretch>
            <a:fillRect/>
          </a:stretch>
        </p:blipFill>
        <p:spPr>
          <a:xfrm>
            <a:off x="1258697" y="1807464"/>
            <a:ext cx="4927518" cy="2640584"/>
          </a:xfrm>
          <a:prstGeom prst="rect">
            <a:avLst/>
          </a:prstGeom>
        </p:spPr>
      </p:pic>
      <p:pic>
        <p:nvPicPr>
          <p:cNvPr id="5" name="Picture 4" descr="Screenshot 2026-02-11 004412"/>
          <p:cNvPicPr>
            <a:picLocks noChangeAspect="1"/>
          </p:cNvPicPr>
          <p:nvPr/>
        </p:nvPicPr>
        <p:blipFill>
          <a:blip r:embed="rId3"/>
          <a:stretch>
            <a:fillRect/>
          </a:stretch>
        </p:blipFill>
        <p:spPr>
          <a:xfrm>
            <a:off x="6425904" y="1167130"/>
            <a:ext cx="4688207" cy="447203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3110">
                <a:sym typeface="+mn-ea"/>
              </a:rPr>
              <a:t> How do leave days correlate with payroll amounts?</a:t>
            </a:r>
            <a:endParaRPr lang="en-US" sz="3110"/>
          </a:p>
        </p:txBody>
      </p:sp>
      <p:sp>
        <p:nvSpPr>
          <p:cNvPr id="3" name="Text Placeholder 2"/>
          <p:cNvSpPr>
            <a:spLocks noGrp="1"/>
          </p:cNvSpPr>
          <p:nvPr>
            <p:ph type="body" idx="1"/>
          </p:nvPr>
        </p:nvSpPr>
        <p:spPr/>
        <p:txBody>
          <a:bodyPr/>
          <a:lstStyle/>
          <a:p>
            <a:pPr marL="114300" indent="0">
              <a:buNone/>
            </a:pPr>
            <a:endParaRPr lang="en-US" dirty="0"/>
          </a:p>
        </p:txBody>
      </p:sp>
      <p:pic>
        <p:nvPicPr>
          <p:cNvPr id="4" name="Picture 3"/>
          <p:cNvPicPr>
            <a:picLocks noChangeAspect="1"/>
          </p:cNvPicPr>
          <p:nvPr/>
        </p:nvPicPr>
        <p:blipFill>
          <a:blip r:embed="rId2"/>
          <a:stretch>
            <a:fillRect/>
          </a:stretch>
        </p:blipFill>
        <p:spPr>
          <a:xfrm>
            <a:off x="6905496" y="2078862"/>
            <a:ext cx="4205099" cy="3508121"/>
          </a:xfrm>
          <a:prstGeom prst="rect">
            <a:avLst/>
          </a:prstGeom>
        </p:spPr>
      </p:pic>
      <p:pic>
        <p:nvPicPr>
          <p:cNvPr id="6" name="Picture 5"/>
          <p:cNvPicPr>
            <a:picLocks noChangeAspect="1"/>
          </p:cNvPicPr>
          <p:nvPr/>
        </p:nvPicPr>
        <p:blipFill>
          <a:blip r:embed="rId3"/>
          <a:stretch>
            <a:fillRect/>
          </a:stretch>
        </p:blipFill>
        <p:spPr>
          <a:xfrm>
            <a:off x="838200" y="1825625"/>
            <a:ext cx="5041392" cy="194071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C378A-5F3F-05AF-65C0-36C49932C6EC}"/>
              </a:ext>
            </a:extLst>
          </p:cNvPr>
          <p:cNvSpPr>
            <a:spLocks noGrp="1"/>
          </p:cNvSpPr>
          <p:nvPr>
            <p:ph type="title"/>
          </p:nvPr>
        </p:nvSpPr>
        <p:spPr/>
        <p:txBody>
          <a:bodyPr/>
          <a:lstStyle/>
          <a:p>
            <a:r>
              <a:rPr lang="en-IN" dirty="0">
                <a:solidFill>
                  <a:srgbClr val="FF0000"/>
                </a:solidFill>
              </a:rPr>
              <a:t>Insights</a:t>
            </a:r>
          </a:p>
        </p:txBody>
      </p:sp>
      <p:sp>
        <p:nvSpPr>
          <p:cNvPr id="3" name="Text Placeholder 2">
            <a:extLst>
              <a:ext uri="{FF2B5EF4-FFF2-40B4-BE49-F238E27FC236}">
                <a16:creationId xmlns:a16="http://schemas.microsoft.com/office/drawing/2014/main" id="{E2A7CB1E-D236-9088-2FB3-E7A125FFB2CF}"/>
              </a:ext>
            </a:extLst>
          </p:cNvPr>
          <p:cNvSpPr>
            <a:spLocks noGrp="1"/>
          </p:cNvSpPr>
          <p:nvPr>
            <p:ph type="body" idx="1"/>
          </p:nvPr>
        </p:nvSpPr>
        <p:spPr>
          <a:xfrm>
            <a:off x="746760" y="1624457"/>
            <a:ext cx="10515600" cy="4351338"/>
          </a:xfrm>
        </p:spPr>
        <p:txBody>
          <a:bodyPr>
            <a:normAutofit/>
          </a:bodyPr>
          <a:lstStyle/>
          <a:p>
            <a:r>
              <a:rPr lang="en-US" dirty="0"/>
              <a:t>The analysis of employee data revealed several important patterns:</a:t>
            </a:r>
          </a:p>
          <a:p>
            <a:r>
              <a:rPr lang="en-US" dirty="0"/>
              <a:t>Certain departments have significantly </a:t>
            </a:r>
            <a:r>
              <a:rPr lang="en-US" u="sng" dirty="0"/>
              <a:t>higher employee counts</a:t>
            </a:r>
            <a:r>
              <a:rPr lang="en-US" dirty="0"/>
              <a:t>, indicating workforce concentration.</a:t>
            </a:r>
          </a:p>
          <a:p>
            <a:r>
              <a:rPr lang="en-US" dirty="0"/>
              <a:t>Salary distribution </a:t>
            </a:r>
            <a:r>
              <a:rPr lang="en-US" u="sng" dirty="0"/>
              <a:t>varies </a:t>
            </a:r>
            <a:r>
              <a:rPr lang="en-US" dirty="0"/>
              <a:t>widely across job roles and departments.</a:t>
            </a:r>
          </a:p>
          <a:p>
            <a:r>
              <a:rPr lang="en-US" dirty="0"/>
              <a:t>A </a:t>
            </a:r>
            <a:r>
              <a:rPr lang="en-US" u="sng" dirty="0"/>
              <a:t>small number </a:t>
            </a:r>
            <a:r>
              <a:rPr lang="en-US" dirty="0"/>
              <a:t>of employees account for a</a:t>
            </a:r>
            <a:r>
              <a:rPr lang="en-US" u="sng" dirty="0"/>
              <a:t> large portion </a:t>
            </a:r>
            <a:r>
              <a:rPr lang="en-US" dirty="0"/>
              <a:t>of payroll expenses.</a:t>
            </a:r>
          </a:p>
          <a:p>
            <a:r>
              <a:rPr lang="en-US" dirty="0"/>
              <a:t>Employees with </a:t>
            </a:r>
            <a:r>
              <a:rPr lang="en-US" u="sng" dirty="0"/>
              <a:t>more qualifications </a:t>
            </a:r>
            <a:r>
              <a:rPr lang="en-US" dirty="0"/>
              <a:t>tend to hold </a:t>
            </a:r>
            <a:r>
              <a:rPr lang="en-US" u="sng" dirty="0"/>
              <a:t>higher-paying </a:t>
            </a:r>
            <a:r>
              <a:rPr lang="en-US" dirty="0"/>
              <a:t>positions.</a:t>
            </a:r>
          </a:p>
          <a:p>
            <a:r>
              <a:rPr lang="en-US" dirty="0"/>
              <a:t>Leave patterns show</a:t>
            </a:r>
            <a:r>
              <a:rPr lang="en-US" u="sng" dirty="0"/>
              <a:t> peak periods </a:t>
            </a:r>
            <a:r>
              <a:rPr lang="en-US" dirty="0"/>
              <a:t>where absenteeism increases.</a:t>
            </a:r>
          </a:p>
          <a:p>
            <a:pPr marL="114300" indent="0">
              <a:buNone/>
            </a:pPr>
            <a:endParaRPr lang="en-US" dirty="0"/>
          </a:p>
        </p:txBody>
      </p:sp>
    </p:spTree>
    <p:extLst>
      <p:ext uri="{BB962C8B-B14F-4D97-AF65-F5344CB8AC3E}">
        <p14:creationId xmlns:p14="http://schemas.microsoft.com/office/powerpoint/2010/main" val="1691657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93985-656C-D4C2-9A94-1F8A632DB2F9}"/>
              </a:ext>
            </a:extLst>
          </p:cNvPr>
          <p:cNvSpPr>
            <a:spLocks noGrp="1"/>
          </p:cNvSpPr>
          <p:nvPr>
            <p:ph type="title"/>
          </p:nvPr>
        </p:nvSpPr>
        <p:spPr/>
        <p:txBody>
          <a:bodyPr/>
          <a:lstStyle/>
          <a:p>
            <a:r>
              <a:rPr lang="en-US" dirty="0">
                <a:solidFill>
                  <a:srgbClr val="FF0000"/>
                </a:solidFill>
              </a:rPr>
              <a:t>Recommendations</a:t>
            </a:r>
            <a:endParaRPr lang="en-IN" dirty="0">
              <a:solidFill>
                <a:srgbClr val="FF0000"/>
              </a:solidFill>
            </a:endParaRPr>
          </a:p>
        </p:txBody>
      </p:sp>
      <p:sp>
        <p:nvSpPr>
          <p:cNvPr id="3" name="Text Placeholder 2">
            <a:extLst>
              <a:ext uri="{FF2B5EF4-FFF2-40B4-BE49-F238E27FC236}">
                <a16:creationId xmlns:a16="http://schemas.microsoft.com/office/drawing/2014/main" id="{5F0AB366-06CB-4E55-FA35-A8DAF979C4C3}"/>
              </a:ext>
            </a:extLst>
          </p:cNvPr>
          <p:cNvSpPr>
            <a:spLocks noGrp="1"/>
          </p:cNvSpPr>
          <p:nvPr>
            <p:ph type="body" idx="1"/>
          </p:nvPr>
        </p:nvSpPr>
        <p:spPr/>
        <p:txBody>
          <a:bodyPr/>
          <a:lstStyle/>
          <a:p>
            <a:r>
              <a:rPr lang="en-US" dirty="0"/>
              <a:t>Based on the insights:</a:t>
            </a:r>
          </a:p>
          <a:p>
            <a:r>
              <a:rPr lang="en-US" dirty="0"/>
              <a:t>Balance </a:t>
            </a:r>
            <a:r>
              <a:rPr lang="en-US" u="sng" dirty="0"/>
              <a:t>workforce distribution </a:t>
            </a:r>
            <a:r>
              <a:rPr lang="en-US" dirty="0"/>
              <a:t>across departments to </a:t>
            </a:r>
            <a:r>
              <a:rPr lang="en-US" u="sng" dirty="0"/>
              <a:t>avoid overload</a:t>
            </a:r>
            <a:r>
              <a:rPr lang="en-US" dirty="0"/>
              <a:t>.</a:t>
            </a:r>
          </a:p>
          <a:p>
            <a:r>
              <a:rPr lang="en-US" dirty="0"/>
              <a:t>Review salary structures to ensure fairness and competitiveness.</a:t>
            </a:r>
          </a:p>
          <a:p>
            <a:r>
              <a:rPr lang="en-US" dirty="0"/>
              <a:t>Provide</a:t>
            </a:r>
            <a:r>
              <a:rPr lang="en-US" u="sng" dirty="0"/>
              <a:t> training </a:t>
            </a:r>
            <a:r>
              <a:rPr lang="en-US" dirty="0"/>
              <a:t>programs to increase employee qualifications.</a:t>
            </a:r>
          </a:p>
          <a:p>
            <a:r>
              <a:rPr lang="en-US" dirty="0"/>
              <a:t>Implement leave planning </a:t>
            </a:r>
            <a:r>
              <a:rPr lang="en-US" u="sng" dirty="0"/>
              <a:t>policies </a:t>
            </a:r>
            <a:r>
              <a:rPr lang="en-US" dirty="0"/>
              <a:t>during peak absence periods.</a:t>
            </a:r>
          </a:p>
          <a:p>
            <a:r>
              <a:rPr lang="en-US" dirty="0"/>
              <a:t>Use data-driven strategies for hiring and promotions.</a:t>
            </a:r>
          </a:p>
          <a:p>
            <a:endParaRPr lang="en-IN" dirty="0"/>
          </a:p>
        </p:txBody>
      </p:sp>
    </p:spTree>
    <p:extLst>
      <p:ext uri="{BB962C8B-B14F-4D97-AF65-F5344CB8AC3E}">
        <p14:creationId xmlns:p14="http://schemas.microsoft.com/office/powerpoint/2010/main" val="905466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C1920-48E5-8B66-4EF0-C1E41FD56762}"/>
              </a:ext>
            </a:extLst>
          </p:cNvPr>
          <p:cNvSpPr>
            <a:spLocks noGrp="1"/>
          </p:cNvSpPr>
          <p:nvPr>
            <p:ph type="title"/>
          </p:nvPr>
        </p:nvSpPr>
        <p:spPr/>
        <p:txBody>
          <a:bodyPr/>
          <a:lstStyle/>
          <a:p>
            <a:r>
              <a:rPr lang="en-IN" dirty="0">
                <a:solidFill>
                  <a:srgbClr val="FF0000"/>
                </a:solidFill>
              </a:rPr>
              <a:t>Conclusion</a:t>
            </a:r>
          </a:p>
        </p:txBody>
      </p:sp>
      <p:sp>
        <p:nvSpPr>
          <p:cNvPr id="3" name="Text Placeholder 2">
            <a:extLst>
              <a:ext uri="{FF2B5EF4-FFF2-40B4-BE49-F238E27FC236}">
                <a16:creationId xmlns:a16="http://schemas.microsoft.com/office/drawing/2014/main" id="{41AA978E-CAC9-32F4-6F2F-B7CACA3B6828}"/>
              </a:ext>
            </a:extLst>
          </p:cNvPr>
          <p:cNvSpPr>
            <a:spLocks noGrp="1"/>
          </p:cNvSpPr>
          <p:nvPr>
            <p:ph type="body" idx="1"/>
          </p:nvPr>
        </p:nvSpPr>
        <p:spPr/>
        <p:txBody>
          <a:bodyPr/>
          <a:lstStyle/>
          <a:p>
            <a:r>
              <a:rPr lang="en-US" dirty="0"/>
              <a:t>The SQL-based Employee Management System successfully demonstrates how relational databases can be used to manage and analyze employee data efficiently. The system enables accurate tracking of employee information, simplifies HR operations, and provides valuable insights for decision-making.</a:t>
            </a:r>
          </a:p>
          <a:p>
            <a:r>
              <a:rPr lang="en-US" dirty="0"/>
              <a:t>Overall, the project highlights the importance of data-driven management in improving organizational productivity and planning.</a:t>
            </a:r>
          </a:p>
          <a:p>
            <a:endParaRPr lang="en-IN" dirty="0"/>
          </a:p>
        </p:txBody>
      </p:sp>
    </p:spTree>
    <p:extLst>
      <p:ext uri="{BB962C8B-B14F-4D97-AF65-F5344CB8AC3E}">
        <p14:creationId xmlns:p14="http://schemas.microsoft.com/office/powerpoint/2010/main" val="77147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B7028-C185-C45E-0C28-AB95ADC09298}"/>
              </a:ext>
            </a:extLst>
          </p:cNvPr>
          <p:cNvSpPr>
            <a:spLocks noGrp="1"/>
          </p:cNvSpPr>
          <p:nvPr>
            <p:ph type="title"/>
          </p:nvPr>
        </p:nvSpPr>
        <p:spPr>
          <a:xfrm>
            <a:off x="838200" y="365125"/>
            <a:ext cx="10515600" cy="5679059"/>
          </a:xfrm>
        </p:spPr>
        <p:txBody>
          <a:bodyPr/>
          <a:lstStyle/>
          <a:p>
            <a:r>
              <a:rPr lang="en-US" dirty="0">
                <a:solidFill>
                  <a:srgbClr val="FF0000"/>
                </a:solidFill>
                <a:latin typeface="Arial Rounded MT Bold" panose="020F0704030504030204" pitchFamily="34" charset="0"/>
              </a:rPr>
              <a:t>			Any Queries?</a:t>
            </a:r>
            <a:endParaRPr lang="en-IN" dirty="0">
              <a:solidFill>
                <a:srgbClr val="FF0000"/>
              </a:solidFill>
              <a:latin typeface="Arial Rounded MT Bold" panose="020F0704030504030204" pitchFamily="34" charset="0"/>
            </a:endParaRPr>
          </a:p>
        </p:txBody>
      </p:sp>
      <p:sp>
        <p:nvSpPr>
          <p:cNvPr id="3" name="Text Placeholder 2">
            <a:extLst>
              <a:ext uri="{FF2B5EF4-FFF2-40B4-BE49-F238E27FC236}">
                <a16:creationId xmlns:a16="http://schemas.microsoft.com/office/drawing/2014/main" id="{1EC1EEB3-F815-A890-B9BF-EC4E1F918FC2}"/>
              </a:ext>
            </a:extLst>
          </p:cNvPr>
          <p:cNvSpPr>
            <a:spLocks noGrp="1"/>
          </p:cNvSpPr>
          <p:nvPr>
            <p:ph type="body" idx="1"/>
          </p:nvPr>
        </p:nvSpPr>
        <p:spPr>
          <a:xfrm flipH="1">
            <a:off x="11353799" y="6131243"/>
            <a:ext cx="45719" cy="45719"/>
          </a:xfrm>
        </p:spPr>
        <p:txBody>
          <a:bodyPr>
            <a:normAutofit fontScale="25000" lnSpcReduction="20000"/>
          </a:bodyPr>
          <a:lstStyle/>
          <a:p>
            <a:endParaRPr lang="en-IN" dirty="0"/>
          </a:p>
        </p:txBody>
      </p:sp>
    </p:spTree>
    <p:extLst>
      <p:ext uri="{BB962C8B-B14F-4D97-AF65-F5344CB8AC3E}">
        <p14:creationId xmlns:p14="http://schemas.microsoft.com/office/powerpoint/2010/main" val="1274984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637</Words>
  <Application>Microsoft Office PowerPoint</Application>
  <PresentationFormat>Widescreen</PresentationFormat>
  <Paragraphs>78</Paragraphs>
  <Slides>21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Libre Baskerville</vt:lpstr>
      <vt:lpstr>Arial</vt:lpstr>
      <vt:lpstr>Arial Rounded MT Bold</vt:lpstr>
      <vt:lpstr>Calibri</vt:lpstr>
      <vt:lpstr>Office Theme</vt:lpstr>
      <vt:lpstr>PowerPoint Presentation</vt:lpstr>
      <vt:lpstr>Agenda  </vt:lpstr>
      <vt:lpstr> Business Problem and Statement </vt:lpstr>
      <vt:lpstr>Introduction</vt:lpstr>
      <vt:lpstr>Objective of the Project</vt:lpstr>
      <vt:lpstr>ER Diagram and schema explanation</vt:lpstr>
      <vt:lpstr>SQL Concepts Demonstrated</vt:lpstr>
      <vt:lpstr>Key analysis questions</vt:lpstr>
      <vt:lpstr>Who are the top 5 highest-paid employees? </vt:lpstr>
      <vt:lpstr>2. JOB ROLE AND DEPARTMENT ANALYSIS</vt:lpstr>
      <vt:lpstr>Which job roles offer the highest salary? </vt:lpstr>
      <vt:lpstr>3. QUALIFICATION AND SKILLS ANALYSIS</vt:lpstr>
      <vt:lpstr>Which employees have the highest number of qualifications?</vt:lpstr>
      <vt:lpstr>4. LEAVE AND ABSENCE PATTERNS </vt:lpstr>
      <vt:lpstr>Which employees have taken the most leaves? </vt:lpstr>
      <vt:lpstr> How do leave days correlate with payroll amounts?</vt:lpstr>
      <vt:lpstr>Insights</vt:lpstr>
      <vt:lpstr>Recommendations</vt:lpstr>
      <vt:lpstr>Conclusion</vt:lpstr>
      <vt:lpstr>   Any Queries?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anudeep kumar janaga</cp:lastModifiedBy>
  <cp:revision>5</cp:revision>
  <dcterms:created xsi:type="dcterms:W3CDTF">2026-02-10T20:02:24Z</dcterms:created>
  <dcterms:modified xsi:type="dcterms:W3CDTF">2026-02-13T10:03:41Z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9B0629EB87D240DCA08D6CF70B8670D7_12</vt:lpwstr>
  </property>
  <property fmtid="{D5CDD505-2E9C-101B-9397-08002B2CF9AE}" pid="3" name="KSOProductBuildVer">
    <vt:lpwstr>1033-12.2.0.23196</vt:lpwstr>
  </property>
</Properties>
</file>